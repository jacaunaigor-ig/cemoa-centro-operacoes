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apresentacao" TargetMode="External"/><Relationship Id="rId3" Type="http://schemas.openxmlformats.org/officeDocument/2006/relationships/slide" Target="slide1.xml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apresentacao" TargetMode="Externa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?tipo=CHUVA" TargetMode="Externa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hyperlink" Target="http://127.0.0.1:43127/apresentaca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?tipo=ALAGAMENTO" TargetMode="External"/><Relationship Id="rId3" Type="http://schemas.openxmlformats.org/officeDocument/2006/relationships/slide" Target="slide1.xml"/><Relationship Id="rId4" Type="http://schemas.openxmlformats.org/officeDocument/2006/relationships/slide" Target="slide5.xml"/><Relationship Id="rId5" Type="http://schemas.openxmlformats.org/officeDocument/2006/relationships/hyperlink" Target="http://127.0.0.1:43127/apresentaca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?tipo=MOVIMENTO" TargetMode="External"/><Relationship Id="rId3" Type="http://schemas.openxmlformats.org/officeDocument/2006/relationships/slide" Target="slide1.xml"/><Relationship Id="rId4" Type="http://schemas.openxmlformats.org/officeDocument/2006/relationships/slide" Target="slide6.xml"/><Relationship Id="rId5" Type="http://schemas.openxmlformats.org/officeDocument/2006/relationships/hyperlink" Target="http://127.0.0.1:43127/apresentaca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?tipo=INCENDIO" TargetMode="External"/><Relationship Id="rId3" Type="http://schemas.openxmlformats.org/officeDocument/2006/relationships/slide" Target="slide1.xml"/><Relationship Id="rId4" Type="http://schemas.openxmlformats.org/officeDocument/2006/relationships/slide" Target="slide7.xml"/><Relationship Id="rId5" Type="http://schemas.openxmlformats.org/officeDocument/2006/relationships/hyperlink" Target="http://127.0.0.1:43127/apresentacao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?tipo=CHUVA" TargetMode="External"/><Relationship Id="rId3" Type="http://schemas.openxmlformats.org/officeDocument/2006/relationships/slide" Target="slide1.xml"/><Relationship Id="rId4" Type="http://schemas.openxmlformats.org/officeDocument/2006/relationships/slide" Target="slide8.xml"/><Relationship Id="rId5" Type="http://schemas.openxmlformats.org/officeDocument/2006/relationships/hyperlink" Target="http://127.0.0.1:43127/apresentacao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boletim" TargetMode="External"/><Relationship Id="rId3" Type="http://schemas.openxmlformats.org/officeDocument/2006/relationships/slide" Target="slide1.xml"/><Relationship Id="rId4" Type="http://schemas.openxmlformats.org/officeDocument/2006/relationships/slide" Target="slide9.xml"/><Relationship Id="rId5" Type="http://schemas.openxmlformats.org/officeDocument/2006/relationships/hyperlink" Target="http://127.0.0.1:43127/apresentacao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meteorologia" TargetMode="External"/><Relationship Id="rId3" Type="http://schemas.openxmlformats.org/officeDocument/2006/relationships/slide" Target="slide1.xml"/><Relationship Id="rId4" Type="http://schemas.openxmlformats.org/officeDocument/2006/relationships/slide" Target="slide10.xml"/><Relationship Id="rId5" Type="http://schemas.openxmlformats.org/officeDocument/2006/relationships/hyperlink" Target="http://127.0.0.1:43127/apresentacao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risco" TargetMode="External"/><Relationship Id="rId3" Type="http://schemas.openxmlformats.org/officeDocument/2006/relationships/slide" Target="slide1.xml"/><Relationship Id="rId4" Type="http://schemas.openxmlformats.org/officeDocument/2006/relationships/slide" Target="slide11.xml"/><Relationship Id="rId5" Type="http://schemas.openxmlformats.org/officeDocument/2006/relationships/hyperlink" Target="http://127.0.0.1:43127/apresentacao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43127/apresentacao" TargetMode="External"/><Relationship Id="rId3" Type="http://schemas.openxmlformats.org/officeDocument/2006/relationships/slide" Target="slide1.xml"/><Relationship Id="rId4" Type="http://schemas.openxmlformats.org/officeDocument/2006/relationships/slide" Target="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DEFESA CIVIL DO AMAZONAS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CEMOA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Centro de Monitoramento e Alerta — a sala de operações dos 62 municípios em um só painel.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Alertas, cota fluvial, chuva e risco no mesmo posto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Dados ao vivo: CEMADEN, ANA, App SELVA e boletim CEMOA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Chuva intensa: só o operador classifica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Alagamento, movimento de massa e qualidade do ar: limiares automáticos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apresentação no painel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Roteiro desta reunião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Clique no tema para ir ao slide. Os botões amarelos abrem o produto correspondente no CEMOA.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Modo apresentação (ao vivo)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640080" y="3611880"/>
            <a:ext cx="2606040" cy="384048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Chuva intensa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3410712" y="3611880"/>
            <a:ext cx="2606040" cy="384048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Alagamento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6181344" y="3611880"/>
            <a:ext cx="2606040" cy="384048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Movimento de massa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8951976" y="3611880"/>
            <a:ext cx="2606040" cy="384048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Qualidade do ar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640080" y="4160520"/>
            <a:ext cx="2606040" cy="384048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Sala de situação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3410712" y="4160520"/>
            <a:ext cx="2606040" cy="384048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Boletim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6181344" y="4160520"/>
            <a:ext cx="2606040" cy="384048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Meteorologia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8951976" y="4160520"/>
            <a:ext cx="2606040" cy="384048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Gestão de risco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17" name="Rounded Rectangle 16">
            <a:hlinkClick r:id="rId2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PAINEL DE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Chuva intensa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Somente o operador define o grau (clique, lote ou polígono). Os acumulados de 1 h e 6 h apoiam a fila do plantão, sem pintar o mapa sozinhos.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Clique no município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Classificar em lote (tecla L)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Polígono para mancha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chuva intensa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10" name="Rounded Rectangle 9">
            <a:hlinkClick r:id="rId5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PAINEL DE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Alagamento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A plataforma classifica ao atingir o limiar de 1 h. Interior 20 / 40 / 70 mm/h. Manaus: severo acima de 20 mm/h. O operador pode alterar depois.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alagamento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9" name="Rounded Rectangle 8">
            <a:hlinkClick r:id="rId5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PAINEL DE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Movimento de massa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Classificação automática pelo acumulado de 24 h em municípios com setor mapeado. Interior 50 / 85 / 140 mm. Manaus: severo acima de 30 mm/24 h.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movimento de massa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9" name="Rounded Rectangle 8">
            <a:hlinkClick r:id="rId5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PAINEL DE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Incêndio e qualidade do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O App SELVA classifica o município com MP2,5 em tempo real (atual, 10 min ou 1 h). Não usa a média de 24 h. Boa não colore o mapa.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Faixas: Boa 0–15 · Moderada 15–50 · Ruim 50–75 · Muito ruim 75–125 · Péssima &gt;125 µg/m³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qualidade do ar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10" name="Rounded Rectangle 9">
            <a:hlinkClick r:id="rId5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SALA DE SITUAÇÃO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 mapa no tamanho da parede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No painel, use Sala de situação para ocultar cabeçalho e lista. Restam o Amazonas, os totais do grau e o cronômetro.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painel de alertas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9" name="Rounded Rectangle 8">
            <a:hlinkClick r:id="rId5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BOLETIM HIDROLÓGICO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Estiagem e inundação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Cota do dia, status por calha e classificação em lote: cole os municípios por extenso, como no painel de alertas.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boletim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9" name="Rounded Rectangle 8">
            <a:hlinkClick r:id="rId5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METEOROLOGIA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Chuva no estado,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Mapa de acumulados CEMADEN (1 h, 6 h, 24 h e 72 h), com ANA onde não há pluviômetro, e satélite de apoio.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meteorologia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9" name="Rounded Rectangle 8">
            <a:hlinkClick r:id="rId5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GESTÃO DE RISCO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IRE e IRG para priorizar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Índice dos 62 municípios e PNG institucional com os 10 primeiros de cada risco. O índice não altera o grau dos alertas.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gestão de risco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9" name="Rounded Rectangle 8">
            <a:hlinkClick r:id="rId5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DEFESA CIVIL DO AMAZONAS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Pronto para o plantão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5D0DE"/>
                </a:solidFill>
                <a:latin typeface="Calibri"/>
              </a:rPr>
              <a:t>O CEMOA concentra o monitoramento, a classificação e o produto cartográfico da operação.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Painel ao vivo: 127.0.0.1:43127/apresentacao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Chuva intensa e erosão: operador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Alagamento, movimento de massa e qualidade do ar: automático + ajuste do operador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640080" y="5989320"/>
            <a:ext cx="40233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Abrir apresentação ao vivo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836676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Início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9601200" y="5989320"/>
            <a:ext cx="1097280" cy="438912"/>
          </a:xfrm>
          <a:prstGeom prst="roundRect">
            <a:avLst/>
          </a:prstGeom>
          <a:solidFill>
            <a:srgbClr val="0A2B4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Próximo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10835640" y="5989320"/>
            <a:ext cx="9601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51525"/>
                </a:solidFill>
                <a:latin typeface="Calibri"/>
              </a:rPr>
              <a:t>Painel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